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6" r:id="rId17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B59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5486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B59452"/>
                </a:solidFill>
                <a:latin typeface="Aptos"/>
              </a:defRPr>
            </a:pPr>
            <a:r>
              <a:t>PROPOSTA DE PRODUTO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987552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Intranet</a:t>
            </a:r>
            <a:br/>
            <a:r>
              <a:t>Eraldo Júnior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93268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0">
                <a:solidFill>
                  <a:srgbClr val="DADFE7"/>
                </a:solidFill>
                <a:latin typeface="Aptos"/>
              </a:defRPr>
            </a:pPr>
            <a:r>
              <a:t>Tecnologia para conectar pessoas, informação e conhecimento.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069080"/>
            <a:ext cx="2880360" cy="530352"/>
          </a:xfrm>
          <a:prstGeom prst="roundRect">
            <a:avLst/>
          </a:prstGeom>
          <a:solidFill>
            <a:srgbClr val="B59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4169663"/>
            <a:ext cx="2468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192742"/>
                </a:solidFill>
                <a:latin typeface="Aptos"/>
              </a:defRPr>
            </a:pPr>
            <a:r>
              <a:t>PLATAFORMA INTERNA INTELIGENTE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80760"/>
            <a:ext cx="7315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0">
                <a:solidFill>
                  <a:srgbClr val="B4BECA"/>
                </a:solidFill>
                <a:latin typeface="Aptos"/>
              </a:defRPr>
            </a:pPr>
            <a:r>
              <a:t>Conceito visual inspirado na identidade do escritório.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9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4572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1">
                <a:solidFill>
                  <a:srgbClr val="B59452"/>
                </a:solidFill>
                <a:latin typeface="Aptos"/>
              </a:defRPr>
            </a:pPr>
            <a:r>
              <a:t>CONCEITO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070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92742"/>
                </a:solidFill>
                <a:latin typeface="Aptos"/>
              </a:defRPr>
            </a:pPr>
            <a:r>
              <a:t>Uma única porta de entrada para o escritório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57200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1">
                <a:solidFill>
                  <a:srgbClr val="6C727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6070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300" b="1">
                <a:solidFill>
                  <a:srgbClr val="192742"/>
                </a:solidFill>
                <a:latin typeface="Aptos"/>
              </a:defRPr>
            </a:pPr>
            <a:r>
              <a:t>Chegou ao escritório? Entre na intranet e encontre tudo o que precisa.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651760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52928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B5945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18688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700" b="1">
                <a:solidFill>
                  <a:srgbClr val="192742"/>
                </a:solidFill>
                <a:latin typeface="Aptos"/>
              </a:defRPr>
            </a:pPr>
            <a:r>
              <a:t>Acessar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30752"/>
            <a:ext cx="2103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6C727C"/>
                </a:solidFill>
                <a:latin typeface="Aptos"/>
              </a:defRPr>
            </a:pPr>
            <a:r>
              <a:t>Login seguro e personalizado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651760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852928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B5945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18688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700" b="1">
                <a:solidFill>
                  <a:srgbClr val="192742"/>
                </a:solidFill>
                <a:latin typeface="Aptos"/>
              </a:defRPr>
            </a:pPr>
            <a:r>
              <a:t>Encontrar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730752"/>
            <a:ext cx="2103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6C727C"/>
                </a:solidFill>
                <a:latin typeface="Aptos"/>
              </a:defRPr>
            </a:pPr>
            <a:r>
              <a:t>Informações e ferramentas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651760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852928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B5945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218688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700" b="1">
                <a:solidFill>
                  <a:srgbClr val="192742"/>
                </a:solidFill>
                <a:latin typeface="Aptos"/>
              </a:defRPr>
            </a:pPr>
            <a:r>
              <a:t>Perguntar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30752"/>
            <a:ext cx="2103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6C727C"/>
                </a:solidFill>
                <a:latin typeface="Aptos"/>
              </a:defRPr>
            </a:pPr>
            <a:r>
              <a:t>IA responde em segundos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2651760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39" y="2852928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B5945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39" y="3218688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700" b="1">
                <a:solidFill>
                  <a:srgbClr val="192742"/>
                </a:solidFill>
                <a:latin typeface="Aptos"/>
              </a:defRPr>
            </a:pPr>
            <a:r>
              <a:t>Resolver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39" y="3730752"/>
            <a:ext cx="2103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6C727C"/>
                </a:solidFill>
                <a:latin typeface="Aptos"/>
              </a:defRPr>
            </a:pPr>
            <a:r>
              <a:t>Solicitações e tarefas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9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4572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1">
                <a:solidFill>
                  <a:srgbClr val="B59452"/>
                </a:solidFill>
                <a:latin typeface="Aptos"/>
              </a:defRPr>
            </a:pPr>
            <a:r>
              <a:t>EXPERIÊNCIA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070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92742"/>
                </a:solidFill>
                <a:latin typeface="Aptos"/>
              </a:defRPr>
            </a:pPr>
            <a:r>
              <a:t>Dashboard: informação antes de procurar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57200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1">
                <a:solidFill>
                  <a:srgbClr val="6C727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920240" cy="4526280"/>
          </a:xfrm>
          <a:prstGeom prst="roundRect">
            <a:avLst/>
          </a:prstGeom>
          <a:solidFill>
            <a:srgbClr val="19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417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ERALDO JÚNIOR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14173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Início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16352"/>
            <a:ext cx="14173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0">
                <a:solidFill>
                  <a:srgbClr val="BEC6D2"/>
                </a:solidFill>
                <a:latin typeface="Aptos"/>
              </a:defRPr>
            </a:pPr>
            <a:r>
              <a:t>Meu Authenticator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00984"/>
            <a:ext cx="14173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0">
                <a:solidFill>
                  <a:srgbClr val="BEC6D2"/>
                </a:solidFill>
                <a:latin typeface="Aptos"/>
              </a:defRPr>
            </a:pPr>
            <a:r>
              <a:t>Assistente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85615"/>
            <a:ext cx="14173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0">
                <a:solidFill>
                  <a:srgbClr val="BEC6D2"/>
                </a:solidFill>
                <a:latin typeface="Aptos"/>
              </a:defRPr>
            </a:pPr>
            <a:r>
              <a:t>Audiências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70248"/>
            <a:ext cx="14173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0">
                <a:solidFill>
                  <a:srgbClr val="BEC6D2"/>
                </a:solidFill>
                <a:latin typeface="Aptos"/>
              </a:defRPr>
            </a:pPr>
            <a:r>
              <a:t>Documentos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54880"/>
            <a:ext cx="14173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0">
                <a:solidFill>
                  <a:srgbClr val="BEC6D2"/>
                </a:solidFill>
                <a:latin typeface="Aptos"/>
              </a:defRPr>
            </a:pPr>
            <a:r>
              <a:t>Administração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1417320"/>
            <a:ext cx="87325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160020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92742"/>
                </a:solidFill>
                <a:latin typeface="Aptos"/>
              </a:defRPr>
            </a:pPr>
            <a:r>
              <a:t>Bom dia, Eraldo. 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1600200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6C727C"/>
                </a:solidFill>
                <a:latin typeface="Aptos"/>
              </a:defRPr>
            </a:pPr>
            <a:r>
              <a:t>🔔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2359152"/>
            <a:ext cx="1965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53512" y="2542032"/>
            <a:ext cx="640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100" b="1">
                <a:solidFill>
                  <a:srgbClr val="19274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53512" y="2999232"/>
            <a:ext cx="1554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6C727C"/>
                </a:solidFill>
                <a:latin typeface="Aptos"/>
              </a:defRPr>
            </a:pPr>
            <a:r>
              <a:t>Audiências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65192" y="2359152"/>
            <a:ext cx="1965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9783" y="2542032"/>
            <a:ext cx="640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100" b="1">
                <a:solidFill>
                  <a:srgbClr val="19274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3" y="2999232"/>
            <a:ext cx="1554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6C727C"/>
                </a:solidFill>
                <a:latin typeface="Aptos"/>
              </a:defRPr>
            </a:pPr>
            <a:r>
              <a:t>Férias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41464" y="2359152"/>
            <a:ext cx="1965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06055" y="2542032"/>
            <a:ext cx="640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100" b="1">
                <a:solidFill>
                  <a:srgbClr val="19274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6055" y="2999232"/>
            <a:ext cx="1554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6C727C"/>
                </a:solidFill>
                <a:latin typeface="Aptos"/>
              </a:defRPr>
            </a:pPr>
            <a:r>
              <a:t>Avisos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17736" y="2359152"/>
            <a:ext cx="1965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82328" y="2542032"/>
            <a:ext cx="640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100" b="1">
                <a:solidFill>
                  <a:srgbClr val="19274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2328" y="2999232"/>
            <a:ext cx="1554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6C727C"/>
                </a:solidFill>
                <a:latin typeface="Aptos"/>
              </a:defRPr>
            </a:pPr>
            <a:r>
              <a:t>Aniversários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88920" y="3657600"/>
            <a:ext cx="53492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0" y="3858768"/>
            <a:ext cx="2743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 b="1">
                <a:solidFill>
                  <a:srgbClr val="192742"/>
                </a:solidFill>
                <a:latin typeface="Aptos"/>
              </a:defRPr>
            </a:pPr>
            <a:r>
              <a:t>Agenda de hoje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434340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303640"/>
                </a:solidFill>
                <a:latin typeface="Aptos"/>
              </a:defRPr>
            </a:pPr>
            <a:r>
              <a:t>09:00  Audiência • Dr. João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4782312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303640"/>
                </a:solidFill>
                <a:latin typeface="Aptos"/>
              </a:defRPr>
            </a:pPr>
            <a:r>
              <a:t>11:30  Reunião comercial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5221224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303640"/>
                </a:solidFill>
                <a:latin typeface="Aptos"/>
              </a:defRPr>
            </a:pPr>
            <a:r>
              <a:t>14:00  Audiência • Dra. Maria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66760" y="3657600"/>
            <a:ext cx="3154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3858768"/>
            <a:ext cx="2286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 b="1">
                <a:solidFill>
                  <a:srgbClr val="192742"/>
                </a:solidFill>
                <a:latin typeface="Aptos"/>
              </a:defRPr>
            </a:pPr>
            <a:r>
              <a:t>Avisos recentes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4343400"/>
            <a:ext cx="2468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303640"/>
                </a:solidFill>
                <a:latin typeface="Aptos"/>
              </a:defRPr>
            </a:pPr>
            <a:r>
              <a:t>Recesso atualizado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4782312"/>
            <a:ext cx="2468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303640"/>
                </a:solidFill>
                <a:latin typeface="Aptos"/>
              </a:defRPr>
            </a:pPr>
            <a:r>
              <a:t>Novo funcionário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5221224"/>
            <a:ext cx="2468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303640"/>
                </a:solidFill>
                <a:latin typeface="Aptos"/>
              </a:defRPr>
            </a:pPr>
            <a:r>
              <a:t>Manual atualizado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9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4572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1">
                <a:solidFill>
                  <a:srgbClr val="B59452"/>
                </a:solidFill>
                <a:latin typeface="Aptos"/>
              </a:defRPr>
            </a:pPr>
            <a:r>
              <a:t>INTELIGÊNCIA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070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92742"/>
                </a:solidFill>
                <a:latin typeface="Aptos"/>
              </a:defRPr>
            </a:pPr>
            <a:r>
              <a:t>Agente de IA: o escritório responde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57200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1">
                <a:solidFill>
                  <a:srgbClr val="6C727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71323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700" b="1">
                <a:solidFill>
                  <a:srgbClr val="192742"/>
                </a:solidFill>
                <a:latin typeface="Aptos"/>
              </a:defRPr>
            </a:pPr>
            <a:r>
              <a:t>🤖 Assistente do Escritório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5943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03640"/>
                </a:solidFill>
                <a:latin typeface="Aptos"/>
              </a:defRPr>
            </a:pPr>
            <a:r>
              <a:t>Como posso ajudar?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743200"/>
            <a:ext cx="6309360" cy="594360"/>
          </a:xfrm>
          <a:prstGeom prst="roundRect">
            <a:avLst/>
          </a:prstGeom>
          <a:solidFill>
            <a:srgbClr val="F7F5E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889504"/>
            <a:ext cx="5852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 b="0">
                <a:solidFill>
                  <a:srgbClr val="303640"/>
                </a:solidFill>
                <a:latin typeface="Aptos"/>
              </a:defRPr>
            </a:pPr>
            <a:r>
              <a:t>Como funciona o reembolso de despesas?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520440"/>
            <a:ext cx="6309360" cy="1143000"/>
          </a:xfrm>
          <a:prstGeom prst="roundRect">
            <a:avLst/>
          </a:prstGeom>
          <a:solidFill>
            <a:srgbClr val="19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703320"/>
            <a:ext cx="57607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Aptos"/>
              </a:defRPr>
            </a:pPr>
            <a:r>
              <a:t>Lance a despesa na planilha de reembolso até o dia 25.</a:t>
            </a:r>
            <a:br/>
            <a:r>
              <a:t>Fonte: Procedimento financeiro — Financeiro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691640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92742"/>
                </a:solidFill>
                <a:latin typeface="Aptos"/>
              </a:defRPr>
            </a:pPr>
            <a:r>
              <a:t>A IA consulta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331720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303640"/>
                </a:solidFill>
                <a:latin typeface="Aptos"/>
              </a:defRPr>
            </a:pPr>
            <a:r>
              <a:t>📚 Base de conhecimento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926079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303640"/>
                </a:solidFill>
                <a:latin typeface="Aptos"/>
              </a:defRPr>
            </a:pPr>
            <a:r>
              <a:t>📄 Documentos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20439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303640"/>
                </a:solidFill>
                <a:latin typeface="Aptos"/>
              </a:defRPr>
            </a:pPr>
            <a:r>
              <a:t>📖 Manual interno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114800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303640"/>
                </a:solidFill>
                <a:latin typeface="Aptos"/>
              </a:defRPr>
            </a:pPr>
            <a:r>
              <a:t>🔍 Busca semântica (RAG)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709160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303640"/>
                </a:solidFill>
                <a:latin typeface="Aptos"/>
              </a:defRPr>
            </a:pPr>
            <a:r>
              <a:t>🔗 Links e procedimentos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9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4572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1">
                <a:solidFill>
                  <a:srgbClr val="B59452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070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92742"/>
                </a:solidFill>
                <a:latin typeface="Aptos"/>
              </a:defRPr>
            </a:pPr>
            <a:r>
              <a:t>Administração: tudo em um só lugar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57200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1">
                <a:solidFill>
                  <a:srgbClr val="6C727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607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6C727C"/>
                </a:solidFill>
                <a:latin typeface="Aptos"/>
              </a:defRPr>
            </a:pPr>
            <a:r>
              <a:t>A equipe autorizada mantém os dados atualizados sem depender do desenvolvedor.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2514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13432"/>
            <a:ext cx="2103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192742"/>
                </a:solidFill>
                <a:latin typeface="Aptos"/>
              </a:defRPr>
            </a:pPr>
            <a:r>
              <a:t>👥 Funcionários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057400"/>
            <a:ext cx="2514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313432"/>
            <a:ext cx="2103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192742"/>
                </a:solidFill>
                <a:latin typeface="Aptos"/>
              </a:defRPr>
            </a:pPr>
            <a:r>
              <a:t>🏖️ Férias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057400"/>
            <a:ext cx="2514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313432"/>
            <a:ext cx="2103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192742"/>
                </a:solidFill>
                <a:latin typeface="Aptos"/>
              </a:defRPr>
            </a:pPr>
            <a:r>
              <a:t>📅 Agenda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59" y="2057400"/>
            <a:ext cx="2514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39" y="2313432"/>
            <a:ext cx="2103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192742"/>
                </a:solidFill>
                <a:latin typeface="Aptos"/>
              </a:defRPr>
            </a:pPr>
            <a:r>
              <a:t>🎂 Aniversários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474720"/>
            <a:ext cx="2514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30752"/>
            <a:ext cx="2103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192742"/>
                </a:solidFill>
                <a:latin typeface="Aptos"/>
              </a:defRPr>
            </a:pPr>
            <a:r>
              <a:t>🎉 Feriados e recessos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474720"/>
            <a:ext cx="2514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730752"/>
            <a:ext cx="2103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192742"/>
                </a:solidFill>
                <a:latin typeface="Aptos"/>
              </a:defRPr>
            </a:pPr>
            <a:r>
              <a:t>📢 Avisos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474720"/>
            <a:ext cx="2514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730752"/>
            <a:ext cx="2103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192742"/>
                </a:solidFill>
                <a:latin typeface="Aptos"/>
              </a:defRPr>
            </a:pPr>
            <a:r>
              <a:t>📚 Base de conhecimento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59" y="3474720"/>
            <a:ext cx="2514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39" y="3730752"/>
            <a:ext cx="2103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192742"/>
                </a:solidFill>
                <a:latin typeface="Aptos"/>
              </a:defRPr>
            </a:pPr>
            <a:r>
              <a:t>🆕 Novos funcionários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9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4572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1">
                <a:solidFill>
                  <a:srgbClr val="B59452"/>
                </a:solidFill>
                <a:latin typeface="Aptos"/>
              </a:defRPr>
            </a:pPr>
            <a:r>
              <a:t>PLATAFORMA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070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92742"/>
                </a:solidFill>
                <a:latin typeface="Aptos"/>
              </a:defRPr>
            </a:pPr>
            <a:r>
              <a:t>Módulos que tornam a intranet completa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57200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1">
                <a:solidFill>
                  <a:srgbClr val="6C727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900" b="0">
                <a:solidFill>
                  <a:srgbClr val="303640"/>
                </a:solidFill>
                <a:latin typeface="Aptos"/>
              </a:defRPr>
            </a:pPr>
            <a:r>
              <a:t>⚖️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10512"/>
            <a:ext cx="2194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 b="1">
                <a:solidFill>
                  <a:srgbClr val="192742"/>
                </a:solidFill>
                <a:latin typeface="Aptos"/>
              </a:defRPr>
            </a:pPr>
            <a:r>
              <a:t>Audiências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6C727C"/>
                </a:solidFill>
                <a:latin typeface="Aptos"/>
              </a:defRPr>
            </a:pPr>
            <a:r>
              <a:t>Visualização e filtros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900" b="0">
                <a:solidFill>
                  <a:srgbClr val="303640"/>
                </a:solidFill>
                <a:latin typeface="Aptos"/>
              </a:defRPr>
            </a:pPr>
            <a:r>
              <a:t>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810512"/>
            <a:ext cx="2194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 b="1">
                <a:solidFill>
                  <a:srgbClr val="192742"/>
                </a:solidFill>
                <a:latin typeface="Aptos"/>
              </a:defRPr>
            </a:pPr>
            <a:r>
              <a:t>Manual interno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23160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6C727C"/>
                </a:solidFill>
                <a:latin typeface="Aptos"/>
              </a:defRPr>
            </a:pPr>
            <a:r>
              <a:t>Regras e procedimentos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783080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900" b="0">
                <a:solidFill>
                  <a:srgbClr val="303640"/>
                </a:solidFill>
                <a:latin typeface="Aptos"/>
              </a:defRPr>
            </a:pPr>
            <a:r>
              <a:t>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1810512"/>
            <a:ext cx="2194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 b="1">
                <a:solidFill>
                  <a:srgbClr val="192742"/>
                </a:solidFill>
                <a:latin typeface="Aptos"/>
              </a:defRPr>
            </a:pPr>
            <a:r>
              <a:t>Documentos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423160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6C727C"/>
                </a:solidFill>
                <a:latin typeface="Aptos"/>
              </a:defRPr>
            </a:pPr>
            <a:r>
              <a:t>Biblioteca pesquisável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20040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29000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900" b="0">
                <a:solidFill>
                  <a:srgbClr val="303640"/>
                </a:solidFill>
                <a:latin typeface="Aptos"/>
              </a:defRPr>
            </a:pPr>
            <a:r>
              <a:t>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456433"/>
            <a:ext cx="2194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 b="1">
                <a:solidFill>
                  <a:srgbClr val="192742"/>
                </a:solidFill>
                <a:latin typeface="Aptos"/>
              </a:defRPr>
            </a:pPr>
            <a:r>
              <a:t>Tribunais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69081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6C727C"/>
                </a:solidFill>
                <a:latin typeface="Aptos"/>
              </a:defRPr>
            </a:pPr>
            <a:r>
              <a:t>Links em um clique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20040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429000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900" b="0">
                <a:solidFill>
                  <a:srgbClr val="303640"/>
                </a:solidFill>
                <a:latin typeface="Aptos"/>
              </a:defRPr>
            </a:pPr>
            <a:r>
              <a:t>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456433"/>
            <a:ext cx="2194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 b="1">
                <a:solidFill>
                  <a:srgbClr val="192742"/>
                </a:solidFill>
                <a:latin typeface="Aptos"/>
              </a:defRPr>
            </a:pPr>
            <a:r>
              <a:t>Solicitações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069081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6C727C"/>
                </a:solidFill>
                <a:latin typeface="Aptos"/>
              </a:defRPr>
            </a:pPr>
            <a:r>
              <a:t>Demandas internas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320040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429000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900" b="0">
                <a:solidFill>
                  <a:srgbClr val="303640"/>
                </a:solidFill>
                <a:latin typeface="Aptos"/>
              </a:defRPr>
            </a:pPr>
            <a:r>
              <a:t>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3456433"/>
            <a:ext cx="2194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 b="1">
                <a:solidFill>
                  <a:srgbClr val="192742"/>
                </a:solidFill>
                <a:latin typeface="Aptos"/>
              </a:defRPr>
            </a:pPr>
            <a:r>
              <a:t>Notificações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069081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6C727C"/>
                </a:solidFill>
                <a:latin typeface="Aptos"/>
              </a:defRPr>
            </a:pPr>
            <a:r>
              <a:t>Alertas personalizados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84632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900" b="0">
                <a:solidFill>
                  <a:srgbClr val="303640"/>
                </a:solidFill>
                <a:latin typeface="Aptos"/>
              </a:defRPr>
            </a:pPr>
            <a: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5102352"/>
            <a:ext cx="2194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 b="1">
                <a:solidFill>
                  <a:srgbClr val="192742"/>
                </a:solidFill>
                <a:latin typeface="Aptos"/>
              </a:defRPr>
            </a:pPr>
            <a:r>
              <a:t>Meu Authenticator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15000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6C727C"/>
                </a:solidFill>
                <a:latin typeface="Aptos"/>
              </a:defRPr>
            </a:pPr>
            <a:r>
              <a:t>Códigos TOTP em tempo real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484632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5074920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900" b="0">
                <a:solidFill>
                  <a:srgbClr val="303640"/>
                </a:solidFill>
                <a:latin typeface="Aptos"/>
              </a:defRPr>
            </a:pPr>
            <a:r>
              <a:t>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5102352"/>
            <a:ext cx="2194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 b="1">
                <a:solidFill>
                  <a:srgbClr val="192742"/>
                </a:solidFill>
                <a:latin typeface="Aptos"/>
              </a:defRPr>
            </a:pPr>
            <a:r>
              <a:t>Base de Conhecimento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5715000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6C727C"/>
                </a:solidFill>
                <a:latin typeface="Aptos"/>
              </a:defRPr>
            </a:pPr>
            <a:r>
              <a:t>Artigos internos pesquisáveis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484632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5074920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900" b="0">
                <a:solidFill>
                  <a:srgbClr val="303640"/>
                </a:solidFill>
                <a:latin typeface="Aptos"/>
              </a:defRPr>
            </a:pPr>
            <a:r>
              <a:t>🏖️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5102352"/>
            <a:ext cx="2194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 b="1">
                <a:solidFill>
                  <a:srgbClr val="192742"/>
                </a:solidFill>
                <a:latin typeface="Aptos"/>
              </a:defRPr>
            </a:pPr>
            <a:r>
              <a:t>Férias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715000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6C727C"/>
                </a:solidFill>
                <a:latin typeface="Aptos"/>
              </a:defRPr>
            </a:pPr>
            <a:r>
              <a:t>Calendário da equipe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9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4572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1">
                <a:solidFill>
                  <a:srgbClr val="B59452"/>
                </a:solidFill>
                <a:latin typeface="Aptos"/>
              </a:defRPr>
            </a:pPr>
            <a:r>
              <a:t>SEGURANÇA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070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92742"/>
                </a:solidFill>
                <a:latin typeface="Aptos"/>
              </a:defRPr>
            </a:pPr>
            <a:r>
              <a:t>Acesso seguro e controle de permissões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57200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1">
                <a:solidFill>
                  <a:srgbClr val="6C727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515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6C727C"/>
                </a:solidFill>
                <a:latin typeface="Aptos"/>
              </a:defRPr>
            </a:pPr>
            <a:r>
              <a:t>Cada funcionário acessa apenas o que precisa. A administração controla permissões e conteúdo.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900" b="0">
                <a:solidFill>
                  <a:srgbClr val="303640"/>
                </a:solidFill>
                <a:latin typeface="Aptos"/>
              </a:defRPr>
            </a:pPr>
            <a: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87752"/>
            <a:ext cx="1371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 b="1">
                <a:solidFill>
                  <a:srgbClr val="192742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2011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6C727C"/>
                </a:solidFill>
                <a:latin typeface="Aptos"/>
              </a:defRPr>
            </a:pPr>
            <a:r>
              <a:t>Autenticação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28600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560320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900" b="0">
                <a:solidFill>
                  <a:srgbClr val="303640"/>
                </a:solidFill>
                <a:latin typeface="Aptos"/>
              </a:defRPr>
            </a:pPr>
            <a:r>
              <a:t>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587752"/>
            <a:ext cx="1371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 b="1">
                <a:solidFill>
                  <a:srgbClr val="192742"/>
                </a:solidFill>
                <a:latin typeface="Aptos"/>
              </a:defRPr>
            </a:pPr>
            <a:r>
              <a:t>Perfil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154680"/>
            <a:ext cx="2011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6C727C"/>
                </a:solidFill>
                <a:latin typeface="Aptos"/>
              </a:defRPr>
            </a:pPr>
            <a:r>
              <a:t>Permissões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28600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560320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900" b="0">
                <a:solidFill>
                  <a:srgbClr val="303640"/>
                </a:solidFill>
                <a:latin typeface="Aptos"/>
              </a:defRPr>
            </a:pPr>
            <a:r>
              <a:t>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587752"/>
            <a:ext cx="1371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 b="1">
                <a:solidFill>
                  <a:srgbClr val="192742"/>
                </a:solidFill>
                <a:latin typeface="Aptos"/>
              </a:defRPr>
            </a:pPr>
            <a:r>
              <a:t>Conteúdo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154680"/>
            <a:ext cx="2011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6C727C"/>
                </a:solidFill>
                <a:latin typeface="Aptos"/>
              </a:defRPr>
            </a:pPr>
            <a:r>
              <a:t>Acesso controlado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228600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59" y="2560320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900" b="0">
                <a:solidFill>
                  <a:srgbClr val="303640"/>
                </a:solidFill>
                <a:latin typeface="Aptos"/>
              </a:defRPr>
            </a:pPr>
            <a:r>
              <a:t>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39" y="2587752"/>
            <a:ext cx="1371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 b="1">
                <a:solidFill>
                  <a:srgbClr val="192742"/>
                </a:solidFill>
                <a:latin typeface="Aptos"/>
              </a:defRPr>
            </a:pPr>
            <a:r>
              <a:t>Auditoria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3154680"/>
            <a:ext cx="2011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6C727C"/>
                </a:solidFill>
                <a:latin typeface="Aptos"/>
              </a:defRPr>
            </a:pPr>
            <a:r>
              <a:t>Registro de ações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9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4572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1">
                <a:solidFill>
                  <a:srgbClr val="B59452"/>
                </a:solidFill>
                <a:latin typeface="Aptos"/>
              </a:defRPr>
            </a:pPr>
            <a:r>
              <a:t>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070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92742"/>
                </a:solidFill>
                <a:latin typeface="Aptos"/>
              </a:defRPr>
            </a:pPr>
            <a:r>
              <a:t>Como as peças se conectam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57200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1">
                <a:solidFill>
                  <a:srgbClr val="6C727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2331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1920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92742"/>
                </a:solidFill>
                <a:latin typeface="Aptos"/>
              </a:defRPr>
            </a:pPr>
            <a:r>
              <a:t>Funcionário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07792"/>
            <a:ext cx="1920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6C727C"/>
                </a:solidFill>
                <a:latin typeface="Aptos"/>
              </a:defRPr>
            </a:pPr>
            <a:r>
              <a:t>Acessa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651760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900" b="1">
                <a:solidFill>
                  <a:srgbClr val="B5945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03120"/>
            <a:ext cx="2331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423160"/>
            <a:ext cx="1920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92742"/>
                </a:solidFill>
                <a:latin typeface="Aptos"/>
              </a:defRPr>
            </a:pPr>
            <a:r>
              <a:t>Intranet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907792"/>
            <a:ext cx="1920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6C727C"/>
                </a:solidFill>
                <a:latin typeface="Aptos"/>
              </a:defRPr>
            </a:pPr>
            <a:r>
              <a:t>Organiza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79" y="2651760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900" b="1">
                <a:solidFill>
                  <a:srgbClr val="B5945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103120"/>
            <a:ext cx="2331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423160"/>
            <a:ext cx="1920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92742"/>
                </a:solidFill>
                <a:latin typeface="Aptos"/>
              </a:defRPr>
            </a:pPr>
            <a:r>
              <a:t>IA +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907792"/>
            <a:ext cx="1920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6C727C"/>
                </a:solidFill>
                <a:latin typeface="Aptos"/>
              </a:defRPr>
            </a:pPr>
            <a:r>
              <a:t>Consulta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651760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900" b="1">
                <a:solidFill>
                  <a:srgbClr val="B5945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59" y="2103120"/>
            <a:ext cx="2331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39" y="2423160"/>
            <a:ext cx="1920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92742"/>
                </a:solidFill>
                <a:latin typeface="Aptos"/>
              </a:defRPr>
            </a:pPr>
            <a:r>
              <a:t>Resposta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39" y="2907792"/>
            <a:ext cx="1920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6C727C"/>
                </a:solidFill>
                <a:latin typeface="Aptos"/>
              </a:defRPr>
            </a:pPr>
            <a:r>
              <a:t>Entrega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251960"/>
            <a:ext cx="103327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303640"/>
                </a:solidFill>
                <a:latin typeface="Aptos"/>
              </a:defRPr>
            </a:pPr>
            <a:r>
              <a:t>A intranet centraliza o acesso, mas continua integrada aos sistemas que o escritório já utiliza.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9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4572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1">
                <a:solidFill>
                  <a:srgbClr val="B59452"/>
                </a:solidFill>
                <a:latin typeface="Aptos"/>
              </a:defRPr>
            </a:pPr>
            <a:r>
              <a:t>IMPLEMENTAÇÃO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070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92742"/>
                </a:solidFill>
                <a:latin typeface="Aptos"/>
              </a:defRPr>
            </a:pPr>
            <a:r>
              <a:t>Roadmap: do protótipo à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57200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1">
                <a:solidFill>
                  <a:srgbClr val="6C727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39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B5945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92742"/>
                </a:solidFill>
                <a:latin typeface="Aptos"/>
              </a:defRPr>
            </a:pPr>
            <a:r>
              <a:t>Protótipo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32888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0">
                <a:solidFill>
                  <a:srgbClr val="6C727C"/>
                </a:solidFill>
                <a:latin typeface="Aptos"/>
              </a:defRPr>
            </a:pPr>
            <a:r>
              <a:t>Validar experiência — concluído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91639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B5945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75688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92742"/>
                </a:solidFill>
                <a:latin typeface="Aptos"/>
              </a:defRPr>
            </a:pPr>
            <a:r>
              <a:t>MVP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32888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0">
                <a:solidFill>
                  <a:srgbClr val="6C727C"/>
                </a:solidFill>
                <a:latin typeface="Aptos"/>
              </a:defRPr>
            </a:pPr>
            <a:r>
              <a:t>Login + Dashboard — concluído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0876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91639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B5945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075688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92742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532888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0">
                <a:solidFill>
                  <a:srgbClr val="6C727C"/>
                </a:solidFill>
                <a:latin typeface="Aptos"/>
              </a:defRPr>
            </a:pPr>
            <a:r>
              <a:t>Administração + dados mock — concluído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6616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49039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B5945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33087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92742"/>
                </a:solidFill>
                <a:latin typeface="Aptos"/>
              </a:defRPr>
            </a:pPr>
            <a:r>
              <a:t>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90288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0">
                <a:solidFill>
                  <a:srgbClr val="6C727C"/>
                </a:solidFill>
                <a:latin typeface="Aptos"/>
              </a:defRPr>
            </a:pPr>
            <a:r>
              <a:t>RAG real na documentação — concluído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56616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39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B5945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133087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92742"/>
                </a:solidFill>
                <a:latin typeface="Aptos"/>
              </a:defRPr>
            </a:pPr>
            <a:r>
              <a:t>Integrações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590288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0">
                <a:solidFill>
                  <a:srgbClr val="6C727C"/>
                </a:solidFill>
                <a:latin typeface="Aptos"/>
              </a:defRPr>
            </a:pPr>
            <a:r>
              <a:t>Sistemas existentes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356616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749039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B5945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33087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92742"/>
                </a:solidFill>
                <a:latin typeface="Aptos"/>
              </a:defRPr>
            </a:pPr>
            <a:r>
              <a:t>Produção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590288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0">
                <a:solidFill>
                  <a:srgbClr val="6C727C"/>
                </a:solidFill>
                <a:latin typeface="Aptos"/>
              </a:defRPr>
            </a:pPr>
            <a:r>
              <a:t>Segurança + backup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B59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5486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B59452"/>
                </a:solidFill>
                <a:latin typeface="Aptos"/>
              </a:defRPr>
            </a:pPr>
            <a:r>
              <a:t>VISÃO DO PRODUTO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24128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Uma única plataforma.</a:t>
            </a:r>
            <a:br/>
            <a:r>
              <a:t>Mais organização. Mais produtividade.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154680"/>
            <a:ext cx="96012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700" b="0">
                <a:solidFill>
                  <a:srgbClr val="DADFE7"/>
                </a:solidFill>
                <a:latin typeface="Aptos"/>
              </a:defRPr>
            </a:pPr>
            <a:r>
              <a:t>Informação organizada + IA + gestão interna + acesso rápido aos sistemas.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4251960"/>
            <a:ext cx="3246120" cy="566928"/>
          </a:xfrm>
          <a:prstGeom prst="roundRect">
            <a:avLst/>
          </a:prstGeom>
          <a:solidFill>
            <a:srgbClr val="B59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370832"/>
            <a:ext cx="28346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192742"/>
                </a:solidFill>
                <a:latin typeface="Aptos"/>
              </a:defRPr>
            </a:pPr>
            <a:r>
              <a:t>INTRANET ERALDO JÚNIOR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35040"/>
            <a:ext cx="9144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0">
                <a:solidFill>
                  <a:srgbClr val="AAB6C4"/>
                </a:solidFill>
                <a:latin typeface="Aptos"/>
              </a:defRPr>
            </a:pPr>
            <a:r>
              <a:t>Conceito visual inspirado na identidade do escritório.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9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B59452"/>
                </a:solidFill>
                <a:latin typeface="Aptos"/>
              </a:defRPr>
            </a:pPr>
            <a:r>
              <a:t>ACESSO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192742"/>
                </a:solidFill>
                <a:latin typeface="Aptos"/>
              </a:defRPr>
            </a:pPr>
            <a:r>
              <a:t>Login: a porta de entrada da intranet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572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6C727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88136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6528816" cy="4617720"/>
          </a:xfrm>
          <a:prstGeom prst="rect">
            <a:avLst/>
          </a:prstGeom>
          <a:solidFill>
            <a:srgbClr val="19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14616" y="1463040"/>
            <a:ext cx="4261104" cy="4617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-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83080"/>
            <a:ext cx="943009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" y="23317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B59452"/>
                </a:solidFill>
                <a:latin typeface="Aptos"/>
              </a:defRPr>
            </a:pPr>
            <a:r>
              <a:t>PORTAL RESTRITO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97480"/>
            <a:ext cx="5888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0" i="1">
                <a:solidFill>
                  <a:srgbClr val="C7CEDA"/>
                </a:solidFill>
                <a:latin typeface="Aptos"/>
              </a:defRPr>
            </a:pPr>
            <a:r>
              <a:t>Nossa atuação é baseada 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54680"/>
            <a:ext cx="588873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000" b="1">
                <a:solidFill>
                  <a:srgbClr val="B59452"/>
                </a:solidFill>
                <a:latin typeface="Georgia"/>
              </a:defRPr>
            </a:pPr>
            <a:r>
              <a:t>RESPEITO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977639"/>
            <a:ext cx="561441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 i="1">
                <a:solidFill>
                  <a:srgbClr val="B59452"/>
                </a:solidFill>
                <a:latin typeface="Aptos"/>
              </a:defRPr>
            </a:pPr>
            <a:r>
              <a:t>Alterna a cada 3s (fade + slide + blur):</a:t>
            </a:r>
          </a:p>
          <a:p>
            <a:pPr algn="l">
              <a:defRPr sz="900" b="0" i="1">
                <a:solidFill>
                  <a:srgbClr val="B59452"/>
                </a:solidFill>
                <a:latin typeface="Aptos"/>
              </a:defRPr>
            </a:pPr>
            <a:r>
              <a:t>Honestidade  ·  Ética  ·  Justiça  ·  Excelência  ·  Transparência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09160"/>
            <a:ext cx="552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C7CEDA"/>
                </a:solidFill>
                <a:latin typeface="Aptos"/>
              </a:defRPr>
            </a:pPr>
            <a:r>
              <a:t>Acesso exclusivo para colaboradores e administradores do escritório Eraldo Júnior Advocacia.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6235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8B93A3"/>
                </a:solidFill>
                <a:latin typeface="Aptos"/>
              </a:defRPr>
            </a:pPr>
            <a:r>
              <a:t>© 2026 Eraldo Júnior Advocacia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4656" y="1874520"/>
            <a:ext cx="36210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192742"/>
                </a:solidFill>
                <a:latin typeface="Aptos"/>
              </a:defRPr>
            </a:pPr>
            <a:r>
              <a:t>Acessar intranet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34656" y="2286000"/>
            <a:ext cx="362102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6C727C"/>
                </a:solidFill>
                <a:latin typeface="Aptos"/>
              </a:defRPr>
            </a:pPr>
            <a:r>
              <a:t>Entre com suas credenciais corporativas.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4656" y="2788920"/>
            <a:ext cx="362102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 b="1">
                <a:solidFill>
                  <a:srgbClr val="6C727C"/>
                </a:solidFill>
                <a:latin typeface="Aptos"/>
              </a:defRPr>
            </a:pPr>
            <a:r>
              <a:t>E-MAIL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34656" y="3008376"/>
            <a:ext cx="3621024" cy="384048"/>
          </a:xfrm>
          <a:prstGeom prst="roundRect">
            <a:avLst>
              <a:gd name="adj" fmla="val 25000"/>
            </a:avLst>
          </a:prstGeom>
          <a:solidFill>
            <a:srgbClr val="F7F5EF"/>
          </a:solidFill>
          <a:ln w="9525">
            <a:solidFill>
              <a:srgbClr val="E1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118103"/>
            <a:ext cx="334670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00" b="0">
                <a:solidFill>
                  <a:srgbClr val="6C727C"/>
                </a:solidFill>
                <a:latin typeface="Aptos"/>
              </a:defRPr>
            </a:pPr>
            <a:r>
              <a:t>seunome@proferaldojunior.com.br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34656" y="3611879"/>
            <a:ext cx="362102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 b="1">
                <a:solidFill>
                  <a:srgbClr val="6C727C"/>
                </a:solidFill>
                <a:latin typeface="Aptos"/>
              </a:defRPr>
            </a:pPr>
            <a:r>
              <a:t>SENHA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34656" y="3831335"/>
            <a:ext cx="3621024" cy="384048"/>
          </a:xfrm>
          <a:prstGeom prst="roundRect">
            <a:avLst>
              <a:gd name="adj" fmla="val 25000"/>
            </a:avLst>
          </a:prstGeom>
          <a:solidFill>
            <a:srgbClr val="F7F5EF"/>
          </a:solidFill>
          <a:ln w="9525">
            <a:solidFill>
              <a:srgbClr val="E1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71816" y="3941063"/>
            <a:ext cx="334670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0">
                <a:solidFill>
                  <a:srgbClr val="6C727C"/>
                </a:solidFill>
                <a:latin typeface="Aptos"/>
              </a:defRPr>
            </a:pPr>
            <a:r>
              <a:t>••••••••••••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34656" y="4434840"/>
            <a:ext cx="3621024" cy="438912"/>
          </a:xfrm>
          <a:prstGeom prst="roundRect">
            <a:avLst>
              <a:gd name="adj" fmla="val 30000"/>
            </a:avLst>
          </a:prstGeom>
          <a:solidFill>
            <a:srgbClr val="19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34656" y="4434840"/>
            <a:ext cx="3621024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Entrar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4656" y="5074920"/>
            <a:ext cx="362102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 i="1">
                <a:solidFill>
                  <a:srgbClr val="6C727C"/>
                </a:solidFill>
                <a:latin typeface="Aptos"/>
              </a:defRPr>
            </a:pPr>
            <a:r>
              <a:t>✨ Ao autenticar: o logo cresce e assume a tela por 1,5s antes do Dashboard aparecer — transição de entrada, não um carregamento.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